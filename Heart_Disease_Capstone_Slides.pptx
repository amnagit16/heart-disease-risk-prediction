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/ lower-risk group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 BP</c:v>
                </c:pt>
                <c:pt idx="1">
                  <c:v>High cholesterol</c:v>
                </c:pt>
                <c:pt idx="2">
                  <c:v>Smoker</c:v>
                </c:pt>
                <c:pt idx="3">
                  <c:v>Diabetes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4.8</c:v>
                </c:pt>
                <c:pt idx="2">
                  <c:v>6.2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C-8A48-BEB7-9E5A45F236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Yes / higher-risk group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 BP</c:v>
                </c:pt>
                <c:pt idx="1">
                  <c:v>High cholesterol</c:v>
                </c:pt>
                <c:pt idx="2">
                  <c:v>Smoker</c:v>
                </c:pt>
                <c:pt idx="3">
                  <c:v>Diabetes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16.5</c:v>
                </c:pt>
                <c:pt idx="1">
                  <c:v>15.2</c:v>
                </c:pt>
                <c:pt idx="2">
                  <c:v>12.4</c:v>
                </c:pt>
                <c:pt idx="3">
                  <c:v>22.1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3C-8A48-BEB7-9E5A45F236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AU" sz="1300" b="0" i="0" u="none" strike="noStrike">
                <a:solidFill>
                  <a:srgbClr val="0F172A"/>
                </a:solidFill>
                <a:latin typeface="Arial"/>
              </a:rPr>
              <a:t>Effort allocation (estimated)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054-A24E-A4AC-6459FDB60924}"/>
              </c:ext>
            </c:extLst>
          </c:dPt>
          <c:dPt>
            <c:idx val="1"/>
            <c:bubble3D val="0"/>
            <c:spPr>
              <a:solidFill>
                <a:srgbClr val="0F2A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54-A24E-A4AC-6459FDB60924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054-A24E-A4AC-6459FDB60924}"/>
              </c:ext>
            </c:extLst>
          </c:dPt>
          <c:dPt>
            <c:idx val="3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054-A24E-A4AC-6459FDB60924}"/>
              </c:ext>
            </c:extLst>
          </c:dPt>
          <c:dPt>
            <c:idx val="4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054-A24E-A4AC-6459FDB60924}"/>
              </c:ext>
            </c:extLst>
          </c:dPt>
          <c:cat>
            <c:strRef>
              <c:f>Sheet1!$A$2:$A$6</c:f>
              <c:strCache>
                <c:ptCount val="5"/>
                <c:pt idx="0">
                  <c:v>Data + EDA</c:v>
                </c:pt>
                <c:pt idx="1">
                  <c:v>Feature eng. + modelling</c:v>
                </c:pt>
                <c:pt idx="2">
                  <c:v>SHAP</c:v>
                </c:pt>
                <c:pt idx="3">
                  <c:v>Gradio app</c:v>
                </c:pt>
                <c:pt idx="4">
                  <c:v>Tableau dashboard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30</c:v>
                </c:pt>
                <c:pt idx="2">
                  <c:v>10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054-A24E-A4AC-6459FDB60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0.1</c:v>
                </c:pt>
                <c:pt idx="2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F1-C347-9FA8-FDF8E4F85D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</c:v>
                </c:pt>
                <c:pt idx="1">
                  <c:v>0.9</c:v>
                </c:pt>
                <c:pt idx="2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F1-C347-9FA8-FDF8E4F85D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AU" sz="1300" b="0" i="0" u="none" strike="noStrike">
                <a:solidFill>
                  <a:srgbClr val="0F172A"/>
                </a:solidFill>
                <a:latin typeface="Arial"/>
              </a:rPr>
              <a:t>Top SHAP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High BP</c:v>
                </c:pt>
                <c:pt idx="1">
                  <c:v>risk_factor_count</c:v>
                </c:pt>
                <c:pt idx="2">
                  <c:v>High cholesterol</c:v>
                </c:pt>
                <c:pt idx="3">
                  <c:v>Sex</c:v>
                </c:pt>
                <c:pt idx="4">
                  <c:v>General health</c:v>
                </c:pt>
                <c:pt idx="5">
                  <c:v>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</c:v>
                </c:pt>
                <c:pt idx="1">
                  <c:v>0.2</c:v>
                </c:pt>
                <c:pt idx="2">
                  <c:v>0.23</c:v>
                </c:pt>
                <c:pt idx="3">
                  <c:v>0.41</c:v>
                </c:pt>
                <c:pt idx="4">
                  <c:v>0.44</c:v>
                </c:pt>
                <c:pt idx="5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36-1748-B8CE-79DA421635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190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Disease Risk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&amp; Machine-Learning App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project:  public-health EDA  →  feature engineering  →  ML modelling  →  SHAP explainability  →  Gradio app  →  Tableau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3383280" cy="1188720"/>
          </a:xfrm>
          <a:prstGeom prst="rect">
            <a:avLst/>
          </a:prstGeom>
          <a:solidFill>
            <a:srgbClr val="16364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253,680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736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3977640"/>
            <a:ext cx="3383280" cy="1188720"/>
          </a:xfrm>
          <a:prstGeom prst="rect">
            <a:avLst/>
          </a:prstGeom>
          <a:solidFill>
            <a:srgbClr val="16364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8056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→ 24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4736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(after engineering)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3977640"/>
            <a:ext cx="3383280" cy="1188720"/>
          </a:xfrm>
          <a:prstGeom prst="rect">
            <a:avLst/>
          </a:prstGeom>
          <a:solidFill>
            <a:srgbClr val="16364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3816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0" y="4736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heart-disease rate (imbalanced)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Amna Ghaffar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870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decision-support prototype — not for clinical diagnosis</a:t>
            </a:r>
            <a:endParaRPr lang="en-US" sz="1100" dirty="0"/>
          </a:p>
          <a:p>
            <a:r>
              <a:rPr sz="1100" b="1">
                <a:solidFill>
                  <a:srgbClr val="5EEAD4"/>
                </a:solidFill>
                <a:latin typeface="Calibri"/>
              </a:rPr>
              <a:t>Project repository:  github.com/Amnagit16/heart-disease-risk-prediction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BUSINESS 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opportunity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healthcare-relevant project framed for risk awareness and a transparent data-science demonstration.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/ OPPORTUNITY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is a leading cause of death, yet much of it is preventable with early intervention.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individuals are often identified only after a cardiac event.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survey-style health indicators may flag risk early enough to act 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can these indicators support an educational early-risk prototype?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4924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OUTCOME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workflow from data exploration to a deployment prototype.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risk-factor patterns through a Tableau dashboard.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model explainable (SHAP) and safely framed (disclaimers).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demonstrate a transparent ML app + dashboard — not a clinical diagnostic product.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STAKEHOLDERS &amp;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 &amp; business value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technical model outputs into clear, reusable insight for mixed audiences.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350008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analysts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66090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relationships and model outputs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0574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350008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23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Public-health educators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266090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risk factors with simple visuals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767328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67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Preventive-health teams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0782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high-risk population segments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474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3767328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767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Data-science reviewers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40782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workflow, reproducibility &amp; delivery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64240" cy="9601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</a:t>
            </a: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flagging of high-risk people is cheap (a follow-up screening) while a missed cardiac case is catastrophic and costly — so even modest early detection delivers strong preventive value, plus reusable insight for education and awareness.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question → data question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capstone connects the business context to a measurable data task.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54864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survey-based health indicators identify higher-risk individuals and communicate the key risk factors clearly through an interactive app and dashboard?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risk awareness, stakeholder communication and transparent model demonstration.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05740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057400"/>
            <a:ext cx="5349240" cy="5029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0574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QUESTION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health, lifestyle and demographic variables are most associated with HeartDiseaseorAttack, and how well can ML models predict it?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on accuracy, precision, recall, F1 and ROC-AUC; then explain the drivers with SHAP.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Dataset, source &amp; quality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BRFSS 2015 health survey — large enough for robust modelling and dashboard insight.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1214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253,680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2011680"/>
            <a:ext cx="26060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21214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47288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(21 + target)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2011680"/>
            <a:ext cx="26060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21214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54496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HeartDiseaseorAttack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70264" y="2011680"/>
            <a:ext cx="26060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0264" y="21214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061704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54864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USED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8862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group, BMI &amp; BMI category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General-health score (1 Excellent → 5 Poor)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BP, high cholesterol, smoking, diabetes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healthcare-access fields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3383280"/>
            <a:ext cx="5349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LIMITATIONS &amp; SOURCING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88620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survey data → recall / honesty bias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ECG, labs, imaging, medication or follow-up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must be handled in evaluation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sourcing: BRFSS runs annually, so fresh data is available each year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·  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workflow across five notebooks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path from raw data to two user-facing deliverables.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20574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+ EDA + feature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38404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checks, target distribution, risk-factor charts; produces readable + model-ready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70632" y="214884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70632" y="2148840"/>
            <a:ext cx="205740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2770632" y="2148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35224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35224" y="38404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split, scaling, 3-model comparison, metrics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92624" y="214884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92624" y="2148840"/>
            <a:ext cx="205740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92624" y="2148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57216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57216" y="38404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and interpretation of predictions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14616" y="214884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14616" y="2148840"/>
            <a:ext cx="20574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3" name="Text 21"/>
          <p:cNvSpPr/>
          <p:nvPr/>
        </p:nvSpPr>
        <p:spPr>
          <a:xfrm>
            <a:off x="7214616" y="2148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79208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79208" y="38404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inputs, probability, gauge, 5 tabs, disclaimer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436608" y="2148840"/>
            <a:ext cx="2057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36608" y="2148840"/>
            <a:ext cx="20574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8" name="Text 26"/>
          <p:cNvSpPr/>
          <p:nvPr/>
        </p:nvSpPr>
        <p:spPr>
          <a:xfrm>
            <a:off x="9436608" y="2148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601200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preparation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0" y="38404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summary CSVs + dashboard-ready data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is kept separate from the modelling pipeline — EDA/Tableau use a readable file, the model uses a separate encoded file; trained model + scaler are saved as .pkl for reuse.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·  EDA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who is at higher risk?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Heart-disease rate by key risk factor — simple percentage comparisons that anyone can read.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0312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2103120"/>
            <a:ext cx="420624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3524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EDA SHOWED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26974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risk-present group sits well above the 9.4% baseline.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and high blood pressure stand out most strongly.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also rises with age and poorer general health.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survey patterns — association, not proof of causation.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·  PLANNING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planning, effort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effort went, and what remains to take the prototype further.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0312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2103120"/>
            <a:ext cx="57150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26480" y="2240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— COMPLETED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2606040"/>
            <a:ext cx="5257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of effort spent on data understanding, feature engineering and model comparison.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 dashboard built and tested locally; model + scaler saved for reuse.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97880" y="4160520"/>
            <a:ext cx="57150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2648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EFFORT / NEXT STEPS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26480" y="4663440"/>
            <a:ext cx="5257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Gradio app to Hugging Face Spaces (adjust file paths).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Tableau dashboard for a shareable link.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production: clinical validation, bias testing, monitoring &amp; governance.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·  FEATURE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Domain-informed features and correct encoding turned 22 raw columns into 24 model-ready features.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128016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21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Diabetes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1576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0/1/2 (none / pre / diabetes) are categories, not a linear scale — split into dummy columns so the model treats them as groups.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057400"/>
            <a:ext cx="128016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21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risk_factor_count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71576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tally of major flags (high BP, high cholesterol, smoking, stroke, difficulty walking, diabetes).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31920"/>
            <a:ext cx="128016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96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total_poor_health_days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5902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poor mental + physical health days into one signal.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93192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3931920"/>
            <a:ext cx="128016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096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at this stage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45902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is done inside training, fit on the training split only — prevents data leakage.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897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helped: 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later ranked the engineered risk_factor_count in the TOP 5 features — ahead of individual factors like blood pressure and smoking.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·  REPRODUCIBLE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clean, reproducible modelling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separated from modelling, with the class imbalance handled deliberately.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6916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21992" y="21488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87168" y="2148840"/>
            <a:ext cx="16916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21488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25696" y="2148840"/>
            <a:ext cx="16916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(fit on train only)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9048" y="21488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64224" y="2148840"/>
            <a:ext cx="16916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 models · balanced weights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37576" y="21488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302752" y="2148840"/>
            <a:ext cx="16916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metrics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76104" y="21488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241280" y="2148840"/>
            <a:ext cx="16916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best model + scaler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548640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1148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EDA/Tableau read a readable file; the model reads a separate encoded file — clean separation.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keeps the 9.4% rate in both train and test.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on training data only, then saved — so the app scales new inputs identically.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3611880"/>
            <a:ext cx="5349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3749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IMBALANCE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1148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~9.4% of records are positive — predicting “no disease” for everyone scores ~90% accuracy but is useless.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class_weight = balanced so rare cases count more in training.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models on recall &amp; ROC-AUC, not accuracy alone.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·  MODELS &amp; METRICS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 — beyond accuracy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 compared on five metrics. Accuracy alone is misleading on imbalanced data.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766560" cy="2148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2148840"/>
            <a:ext cx="4069080" cy="2743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269748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&amp; XGBoost look best on accuracy (~90%) but catch only ~10% of real cases (recall).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catches ~80% of real cases with matching ROC-AUC (0.85).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accuracy (0.75) is an accepted trade-off for high recall.</a:t>
            </a:r>
            <a:endParaRPr lang="en-US" sz="12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48640" y="4937760"/>
          <a:ext cx="676656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7543800" y="51206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vs accuracy — the gap that drove the model choice.</a:t>
            </a:r>
            <a:endParaRPr lang="en-US" sz="1200" dirty="0"/>
          </a:p>
        </p:txBody>
      </p:sp>
      <p:sp>
        <p:nvSpPr>
          <p:cNvPr id="6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·  MODEL SELECTION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Chosen model: Logistic Regression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on evidence — the metric that matters for screening, plus interpretability.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(0.80) — catches ~4 in 5 real heart-disease cases.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tied for best (0.85).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— coefficients show direction of risk, which matters in healthcare.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probability output, used for the app's risk gauge.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.pkl with its scaler for reuse in the app.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94960" cy="3977640"/>
          </a:xfrm>
          <a:prstGeom prst="rect">
            <a:avLst/>
          </a:prstGeom>
          <a:solidFill>
            <a:srgbClr val="0F2A43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SCREENING TRADE-OFF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6974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risk screening, a missed case (false negative) is far worse than a false alarm.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recall is prioritised over precision.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lower precision (~0.25) means more false alarms — acceptable, since a false alarm only triggers a cheap follow-up check.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threshold can be tuned on the precision-recall curve if a different balance is needed.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·  EXPLAINABILITY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with SHAP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black box: which features drive each prediction, and by how much.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03120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95160" y="2103120"/>
            <a:ext cx="461772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22376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2697480"/>
            <a:ext cx="4160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(age, general health, cholesterol, BP) are exactly the known clinical risk factors, the model learns sensible patterns.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healthcare: a clinician can see why someone was flagged.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risk_factor_count ranks in the top 5, the feature engineering paid off.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what the model uses  association, not proof of cause.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·  END-TO-END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notebooks → trained model → two user-facing products.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0574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data (CDC BRFSS)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7752" y="210312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80360" y="2103120"/>
            <a:ext cx="20574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103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Notebooks: EDA · FE · train · SHAP · prep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9472" y="210312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12080" y="2103120"/>
            <a:ext cx="20574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103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scaler (.pkl)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51192" y="210312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43800" y="2103120"/>
            <a:ext cx="20574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103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582912" y="210312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875520" y="2103120"/>
            <a:ext cx="20574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103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54864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 — 5 TABS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 — inputs → probability + gauge + risk flags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Dashboard · Model Performance · Explainability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/ disclaimer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rebuilds the engineered features from user inputs so they match the model.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383280"/>
            <a:ext cx="5349240" cy="2697480"/>
          </a:xfrm>
          <a:prstGeom prst="rect">
            <a:avLst/>
          </a:prstGeom>
          <a:solidFill>
            <a:srgbClr val="0F2A43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LIBRARIES &amp; FRAMEWORKS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931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  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    NumPy     </a:t>
            </a: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   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     SHAP     </a:t>
            </a: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    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     Plotly     </a:t>
            </a: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Gradio    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    joblib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5257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deployment would also need clinical validation, governance, monitoring and secure infrastructure.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·  SAFETY &amp; ETHICS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Limitations, ethics &amp; safety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framed as an educational data-science prototype.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128016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5877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survey; no ECG, imaging or lab results; cross-sectional snapshot.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057400"/>
            <a:ext cx="128016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5877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and no clinical validation — not for individual medical decisions.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474720"/>
            <a:ext cx="128016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caveat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0050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were kept; with a random split a few may appear in train and test.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474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3474720"/>
            <a:ext cx="128016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framing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40050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diagnosis, treatment or patient-specific advice — educational use only.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64240" cy="9601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 </a:t>
            </a: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and app are for educational data-science capstone purposes only, and are not intended for clinical diagnosis, treatment decisions or individual medical advice.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Prediction Capstone</a:t>
            </a: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640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transparent capstone workflow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212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public-health dataset → meaningful EDA and modelling.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imbalance correctly — recall, not accuracy, drove the choice.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feature engineering proved useful (SHAP top 5).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made the model explainable and trustworthy.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 + Tableau dashboard deliver an end-to-end prototype.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246888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published on GitHub: github.com/Amnagit16/heart-disease-risk-prediction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Gradio app to Hugging Face Spaces (live demo).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Tableau dashboard for a shareable link.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production: clinical validation, bias testing &amp; governance.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10515600" cy="182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· predictive modelling · explainability · dashboard communication — in one portfolio-ready capstone.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1959</Words>
  <Application>Microsoft Macintosh PowerPoint</Application>
  <PresentationFormat>Widescreen</PresentationFormat>
  <Paragraphs>274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Risk Prediction Capstone</dc:title>
  <dc:subject>PptxGenJS Presentation</dc:subject>
  <dc:creator>Amna Ghaffar</dc:creator>
  <cp:lastModifiedBy>Amna Ghaffar</cp:lastModifiedBy>
  <cp:revision>2</cp:revision>
  <dcterms:created xsi:type="dcterms:W3CDTF">2026-06-03T06:18:27Z</dcterms:created>
  <dcterms:modified xsi:type="dcterms:W3CDTF">2026-06-04T11:39:44Z</dcterms:modified>
</cp:coreProperties>
</file>